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72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5C78C54-5688-6209-8680-0C7475270BC8}"/>
              </a:ext>
            </a:extLst>
          </p:cNvPr>
          <p:cNvGrpSpPr/>
          <p:nvPr userDrawn="1"/>
        </p:nvGrpSpPr>
        <p:grpSpPr>
          <a:xfrm>
            <a:off x="800144" y="1699589"/>
            <a:ext cx="3942165" cy="3200399"/>
            <a:chOff x="800144" y="1699589"/>
            <a:chExt cx="3942165" cy="3200399"/>
          </a:xfrm>
        </p:grpSpPr>
        <p:sp>
          <p:nvSpPr>
            <p:cNvPr id="28" name="Rectangle 27"/>
            <p:cNvSpPr/>
            <p:nvPr/>
          </p:nvSpPr>
          <p:spPr>
            <a:xfrm>
              <a:off x="800144" y="1699589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5400000">
              <a:off x="4448114" y="3393384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806336" y="2275661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91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2372C0-6A09-2E34-B613-E7381E409AFB}"/>
              </a:ext>
            </a:extLst>
          </p:cNvPr>
          <p:cNvGrpSpPr/>
          <p:nvPr userDrawn="1"/>
        </p:nvGrpSpPr>
        <p:grpSpPr>
          <a:xfrm>
            <a:off x="3259545" y="1186483"/>
            <a:ext cx="5666145" cy="4126869"/>
            <a:chOff x="3259545" y="1186483"/>
            <a:chExt cx="5666145" cy="4126869"/>
          </a:xfrm>
        </p:grpSpPr>
        <p:sp>
          <p:nvSpPr>
            <p:cNvPr id="99" name="Rectangle 98"/>
            <p:cNvSpPr/>
            <p:nvPr userDrawn="1"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 userDrawn="1"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3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0" name="Rectangle 59"/>
          <p:cNvSpPr/>
          <p:nvPr/>
        </p:nvSpPr>
        <p:spPr>
          <a:xfrm>
            <a:off x="800144" y="1699589"/>
            <a:ext cx="3674476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" name="Isosceles Triangle 22"/>
          <p:cNvSpPr/>
          <p:nvPr/>
        </p:nvSpPr>
        <p:spPr>
          <a:xfrm rot="5400000">
            <a:off x="4378142" y="3320528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Rectangle 61"/>
          <p:cNvSpPr/>
          <p:nvPr/>
        </p:nvSpPr>
        <p:spPr>
          <a:xfrm>
            <a:off x="806336" y="2275661"/>
            <a:ext cx="3668284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278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2" name="Rectangle 61"/>
          <p:cNvSpPr/>
          <p:nvPr/>
        </p:nvSpPr>
        <p:spPr>
          <a:xfrm>
            <a:off x="800144" y="1699589"/>
            <a:ext cx="3674476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" name="Isosceles Triangle 22"/>
          <p:cNvSpPr/>
          <p:nvPr/>
        </p:nvSpPr>
        <p:spPr>
          <a:xfrm rot="5400000">
            <a:off x="4429337" y="3292799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Rectangle 63"/>
          <p:cNvSpPr/>
          <p:nvPr/>
        </p:nvSpPr>
        <p:spPr>
          <a:xfrm>
            <a:off x="806336" y="2275661"/>
            <a:ext cx="3668284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2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5" name="Rectangle 24"/>
          <p:cNvSpPr/>
          <p:nvPr/>
        </p:nvSpPr>
        <p:spPr>
          <a:xfrm>
            <a:off x="800144" y="1699589"/>
            <a:ext cx="3674476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2"/>
          <p:cNvSpPr/>
          <p:nvPr/>
        </p:nvSpPr>
        <p:spPr>
          <a:xfrm rot="5400000">
            <a:off x="4431859" y="3293629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806336" y="2275661"/>
            <a:ext cx="3668284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37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4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2" name="Rectangle 21"/>
          <p:cNvSpPr/>
          <p:nvPr/>
        </p:nvSpPr>
        <p:spPr>
          <a:xfrm>
            <a:off x="800144" y="1699589"/>
            <a:ext cx="3674476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Isosceles Triangle 22"/>
          <p:cNvSpPr/>
          <p:nvPr/>
        </p:nvSpPr>
        <p:spPr>
          <a:xfrm rot="5400000">
            <a:off x="4424481" y="3364611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/>
          <p:cNvSpPr/>
          <p:nvPr/>
        </p:nvSpPr>
        <p:spPr>
          <a:xfrm>
            <a:off x="806336" y="2275661"/>
            <a:ext cx="3668284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33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77" name="Rectangle 76"/>
          <p:cNvSpPr/>
          <p:nvPr/>
        </p:nvSpPr>
        <p:spPr>
          <a:xfrm>
            <a:off x="805336" y="1698331"/>
            <a:ext cx="5941540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Isosceles Triangle 9"/>
          <p:cNvSpPr/>
          <p:nvPr/>
        </p:nvSpPr>
        <p:spPr>
          <a:xfrm rot="5400000">
            <a:off x="6702532" y="3393384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" name="Rectangle 78"/>
          <p:cNvSpPr/>
          <p:nvPr/>
        </p:nvSpPr>
        <p:spPr>
          <a:xfrm>
            <a:off x="805336" y="2274403"/>
            <a:ext cx="5941540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08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3" name="Rectangle 22"/>
          <p:cNvSpPr/>
          <p:nvPr/>
        </p:nvSpPr>
        <p:spPr>
          <a:xfrm>
            <a:off x="800144" y="1699589"/>
            <a:ext cx="3674476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2"/>
          <p:cNvSpPr/>
          <p:nvPr/>
        </p:nvSpPr>
        <p:spPr>
          <a:xfrm rot="5400000">
            <a:off x="4424480" y="3364611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806336" y="2275661"/>
            <a:ext cx="3668284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3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3" name="Rectangle 22"/>
          <p:cNvSpPr/>
          <p:nvPr/>
        </p:nvSpPr>
        <p:spPr>
          <a:xfrm>
            <a:off x="7718948" y="1699589"/>
            <a:ext cx="3674476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2"/>
          <p:cNvSpPr/>
          <p:nvPr/>
        </p:nvSpPr>
        <p:spPr>
          <a:xfrm rot="16200000">
            <a:off x="7455261" y="3393383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7725140" y="2275661"/>
            <a:ext cx="3668284" cy="2624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69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2C922-5D72-4E19-9BAF-F5D51B3A2BD5}" type="datetimeFigureOut">
              <a:rPr lang="en-IN" smtClean="0"/>
              <a:t>2025-11-04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BEDEF-1539-4C44-B70A-19D0508EC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68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87560-FE40-D8F1-2009-D2B00D1F2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r>
              <a:rPr lang="en-US" b="1" dirty="0"/>
              <a:t>Zomato Restaurant Reviews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E22D1-A8B9-498D-2836-D018672A7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End-to-End EDA Assignment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32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49E17-247B-0ADD-15D1-2F02A71F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DD48B-7368-0934-299A-EAD2BBD37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This project analyses </a:t>
            </a:r>
            <a:r>
              <a:rPr lang="en-IN" b="1" dirty="0"/>
              <a:t>Zomato restaurant reviews and metadata</a:t>
            </a:r>
            <a:r>
              <a:rPr lang="en-IN" dirty="0"/>
              <a:t> to uncover insights about:</a:t>
            </a:r>
          </a:p>
          <a:p>
            <a:pPr lvl="1"/>
            <a:r>
              <a:rPr lang="en-IN" dirty="0"/>
              <a:t>Restaurant performance</a:t>
            </a:r>
          </a:p>
          <a:p>
            <a:pPr lvl="1"/>
            <a:r>
              <a:rPr lang="en-IN" dirty="0"/>
              <a:t>Customer sentiment</a:t>
            </a:r>
          </a:p>
          <a:p>
            <a:pPr lvl="1"/>
            <a:r>
              <a:rPr lang="en-IN" dirty="0"/>
              <a:t>Pricing and cuisine patterns</a:t>
            </a:r>
          </a:p>
          <a:p>
            <a:r>
              <a:rPr lang="en-IN" dirty="0"/>
              <a:t>Data sources:</a:t>
            </a:r>
          </a:p>
          <a:p>
            <a:pPr lvl="1"/>
            <a:r>
              <a:rPr lang="en-IN" b="1" dirty="0"/>
              <a:t>Reviews Dataset:</a:t>
            </a:r>
            <a:r>
              <a:rPr lang="en-IN" dirty="0"/>
              <a:t> Customer ratings &amp; text feedback</a:t>
            </a:r>
          </a:p>
          <a:p>
            <a:pPr lvl="1"/>
            <a:r>
              <a:rPr lang="en-IN" b="1" dirty="0"/>
              <a:t>Metadata Dataset:</a:t>
            </a:r>
            <a:r>
              <a:rPr lang="en-IN" dirty="0"/>
              <a:t> Cuisine types, cost, locations, operating hours</a:t>
            </a:r>
          </a:p>
          <a:p>
            <a:r>
              <a:rPr lang="en-IN" dirty="0"/>
              <a:t>Key tasks performed:</a:t>
            </a:r>
          </a:p>
          <a:p>
            <a:pPr lvl="1"/>
            <a:r>
              <a:rPr lang="en-IN" dirty="0"/>
              <a:t>Data cleaning (duplicates, missing values)</a:t>
            </a:r>
          </a:p>
          <a:p>
            <a:pPr lvl="1"/>
            <a:r>
              <a:rPr lang="en-IN" dirty="0"/>
              <a:t>Cost normalization</a:t>
            </a:r>
          </a:p>
          <a:p>
            <a:pPr lvl="1"/>
            <a:r>
              <a:rPr lang="en-IN" dirty="0"/>
              <a:t>Sentiment Analysis using </a:t>
            </a:r>
            <a:r>
              <a:rPr lang="en-IN" b="1" dirty="0" err="1"/>
              <a:t>TextBlob</a:t>
            </a:r>
            <a:endParaRPr lang="en-IN" dirty="0"/>
          </a:p>
          <a:p>
            <a:pPr lvl="1"/>
            <a:r>
              <a:rPr lang="en-IN" dirty="0"/>
              <a:t>Visualization: histograms, bar charts, scatter plots, heatmaps, line charts</a:t>
            </a:r>
          </a:p>
          <a:p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Data-driven insights on how </a:t>
            </a:r>
            <a:r>
              <a:rPr lang="en-IN" b="1" dirty="0"/>
              <a:t>price, cuisine, and sentiment</a:t>
            </a:r>
            <a:r>
              <a:rPr lang="en-IN" dirty="0"/>
              <a:t> affect restaurant ratings — aiding better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60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5B59-D4D0-B5B6-8188-8AE763BF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4020-0CCB-1886-5222-E17BA89C5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Main Goal:</a:t>
            </a:r>
            <a:r>
              <a:rPr lang="en-US" dirty="0"/>
              <a:t> Analyze customer feedback and restaurant data to improve business performance.</a:t>
            </a:r>
          </a:p>
          <a:p>
            <a:r>
              <a:rPr lang="en-US" b="1" dirty="0"/>
              <a:t>Objectives:</a:t>
            </a:r>
            <a:endParaRPr lang="en-US" dirty="0"/>
          </a:p>
          <a:p>
            <a:pPr lvl="1"/>
            <a:r>
              <a:rPr lang="en-US" dirty="0"/>
              <a:t>Identify </a:t>
            </a:r>
            <a:r>
              <a:rPr lang="en-US" b="1" dirty="0"/>
              <a:t>top-performing restaurants</a:t>
            </a:r>
            <a:r>
              <a:rPr lang="en-US" dirty="0"/>
              <a:t> by rating &amp; sentiment</a:t>
            </a:r>
          </a:p>
          <a:p>
            <a:pPr lvl="1"/>
            <a:r>
              <a:rPr lang="en-US" dirty="0"/>
              <a:t>Find </a:t>
            </a:r>
            <a:r>
              <a:rPr lang="en-US" b="1" dirty="0"/>
              <a:t>popular cuisines</a:t>
            </a:r>
            <a:r>
              <a:rPr lang="en-US" dirty="0"/>
              <a:t> and </a:t>
            </a:r>
            <a:r>
              <a:rPr lang="en-US" b="1" dirty="0"/>
              <a:t>pricing trends</a:t>
            </a:r>
            <a:endParaRPr lang="en-US" dirty="0"/>
          </a:p>
          <a:p>
            <a:pPr lvl="1"/>
            <a:r>
              <a:rPr lang="en-US" dirty="0"/>
              <a:t>Analyze </a:t>
            </a:r>
            <a:r>
              <a:rPr lang="en-US" b="1" dirty="0"/>
              <a:t>cost vs rating</a:t>
            </a:r>
            <a:r>
              <a:rPr lang="en-US" dirty="0"/>
              <a:t> relationship</a:t>
            </a:r>
          </a:p>
          <a:p>
            <a:pPr lvl="1"/>
            <a:r>
              <a:rPr lang="en-US" dirty="0"/>
              <a:t>Track </a:t>
            </a:r>
            <a:r>
              <a:rPr lang="en-US" b="1" dirty="0"/>
              <a:t>rating trends</a:t>
            </a:r>
            <a:r>
              <a:rPr lang="en-US" dirty="0"/>
              <a:t> over time</a:t>
            </a:r>
          </a:p>
          <a:p>
            <a:pPr lvl="1"/>
            <a:r>
              <a:rPr lang="en-US" dirty="0"/>
              <a:t>Understand </a:t>
            </a:r>
            <a:r>
              <a:rPr lang="en-US" b="1" dirty="0"/>
              <a:t>customer sentiment</a:t>
            </a:r>
            <a:r>
              <a:rPr lang="en-US" dirty="0"/>
              <a:t> to improve service quality</a:t>
            </a:r>
          </a:p>
          <a:p>
            <a:r>
              <a:rPr lang="en-US" b="1" dirty="0"/>
              <a:t>Impact:</a:t>
            </a:r>
            <a:br>
              <a:rPr lang="en-US" dirty="0"/>
            </a:br>
            <a:r>
              <a:rPr lang="en-US" dirty="0"/>
              <a:t>Helps Zomato and partner restaurants improve </a:t>
            </a:r>
            <a:r>
              <a:rPr lang="en-US" b="1" dirty="0"/>
              <a:t>customer satisfaction</a:t>
            </a:r>
            <a:r>
              <a:rPr lang="en-US" dirty="0"/>
              <a:t>, </a:t>
            </a:r>
            <a:r>
              <a:rPr lang="en-US" b="1" dirty="0"/>
              <a:t>engagement</a:t>
            </a:r>
            <a:r>
              <a:rPr lang="en-US" dirty="0"/>
              <a:t>, and </a:t>
            </a:r>
            <a:r>
              <a:rPr lang="en-US" b="1" dirty="0"/>
              <a:t>pricing strategy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29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F697-306C-76AA-F258-1A2E4DE2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01153-6CF7-F565-8BAB-FBFDA525A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Zomato has thousands of listings — it’s difficult to:</a:t>
            </a:r>
          </a:p>
          <a:p>
            <a:pPr lvl="1"/>
            <a:r>
              <a:rPr lang="en-US" dirty="0"/>
              <a:t>Identify </a:t>
            </a:r>
            <a:r>
              <a:rPr lang="en-US" b="1" dirty="0"/>
              <a:t>consistently high-quality restaurants</a:t>
            </a:r>
            <a:endParaRPr lang="en-US" dirty="0"/>
          </a:p>
          <a:p>
            <a:pPr lvl="1"/>
            <a:r>
              <a:rPr lang="en-US" dirty="0"/>
              <a:t>Understand </a:t>
            </a:r>
            <a:r>
              <a:rPr lang="en-US" b="1" dirty="0"/>
              <a:t>how cost, cuisine, and location</a:t>
            </a:r>
            <a:r>
              <a:rPr lang="en-US" dirty="0"/>
              <a:t> impact satisfaction</a:t>
            </a:r>
          </a:p>
          <a:p>
            <a:pPr lvl="1"/>
            <a:r>
              <a:rPr lang="en-US" dirty="0"/>
              <a:t>Extract </a:t>
            </a:r>
            <a:r>
              <a:rPr lang="en-US" b="1" dirty="0"/>
              <a:t>sentiment</a:t>
            </a:r>
            <a:r>
              <a:rPr lang="en-US" dirty="0"/>
              <a:t> from text reviews</a:t>
            </a:r>
          </a:p>
          <a:p>
            <a:pPr lvl="1"/>
            <a:r>
              <a:rPr lang="en-US" dirty="0"/>
              <a:t>Track </a:t>
            </a:r>
            <a:r>
              <a:rPr lang="en-US" b="1" dirty="0"/>
              <a:t>performance trends</a:t>
            </a:r>
            <a:r>
              <a:rPr lang="en-US" dirty="0"/>
              <a:t> over time</a:t>
            </a:r>
          </a:p>
          <a:p>
            <a:r>
              <a:rPr lang="en-US" dirty="0"/>
              <a:t>Without analysis, decisions rely on intuition rather than data.</a:t>
            </a:r>
          </a:p>
          <a:p>
            <a:r>
              <a:rPr lang="en-US" dirty="0"/>
              <a:t>Need for a </a:t>
            </a:r>
            <a:r>
              <a:rPr lang="en-US" b="1" dirty="0"/>
              <a:t>data-driven analytical framework</a:t>
            </a:r>
            <a:r>
              <a:rPr lang="en-US" dirty="0"/>
              <a:t> to derive insights from reviews and metadata.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84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852-BC25-C3F3-68A7-F1E0A2C2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Solution to Business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2B0F2-31AF-E9D0-8FE6-3A9DA002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Data-Driven Strategies:</a:t>
            </a:r>
            <a:endParaRPr lang="en-US" dirty="0"/>
          </a:p>
          <a:p>
            <a:pPr lvl="1"/>
            <a:r>
              <a:rPr lang="en-US" b="1" dirty="0"/>
              <a:t>Optimize Pricing:</a:t>
            </a:r>
            <a:endParaRPr lang="en-US" dirty="0"/>
          </a:p>
          <a:p>
            <a:pPr lvl="2"/>
            <a:r>
              <a:rPr lang="en-US" dirty="0"/>
              <a:t>Moderate positive correlation (0.42) between cost and rating</a:t>
            </a:r>
          </a:p>
          <a:p>
            <a:pPr lvl="2"/>
            <a:r>
              <a:rPr lang="en-US" dirty="0"/>
              <a:t>Justify premium pricing with better service &amp; quality</a:t>
            </a:r>
          </a:p>
          <a:p>
            <a:pPr lvl="1"/>
            <a:r>
              <a:rPr lang="en-US" b="1" dirty="0"/>
              <a:t>Focus on Top Cuisines:</a:t>
            </a:r>
            <a:endParaRPr lang="en-US" dirty="0"/>
          </a:p>
          <a:p>
            <a:pPr lvl="2"/>
            <a:r>
              <a:rPr lang="en-US" dirty="0"/>
              <a:t>North Indian &amp; Chinese are most popular</a:t>
            </a:r>
          </a:p>
          <a:p>
            <a:pPr lvl="2"/>
            <a:r>
              <a:rPr lang="en-US" dirty="0"/>
              <a:t>Leverage these cuisines for new market entries</a:t>
            </a:r>
          </a:p>
          <a:p>
            <a:pPr lvl="1"/>
            <a:r>
              <a:rPr lang="en-US" b="1" dirty="0"/>
              <a:t>Enhance Customer Engagement:</a:t>
            </a:r>
            <a:endParaRPr lang="en-US" dirty="0"/>
          </a:p>
          <a:p>
            <a:pPr lvl="2"/>
            <a:r>
              <a:rPr lang="en-US" dirty="0"/>
              <a:t>68% positive reviews, 14% negative</a:t>
            </a:r>
          </a:p>
          <a:p>
            <a:pPr lvl="2"/>
            <a:r>
              <a:rPr lang="en-US" dirty="0"/>
              <a:t>Address key issues like delivery &amp; consistency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88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2840-71B3-4302-3FDE-DA8A1E03A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 to Business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1CBD-8307-D0F0-FA35-042BC688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Promote Top Restaurants:</a:t>
            </a:r>
            <a:endParaRPr lang="en-US" dirty="0"/>
          </a:p>
          <a:p>
            <a:pPr lvl="2"/>
            <a:r>
              <a:rPr lang="en-US" i="1" dirty="0"/>
              <a:t>AB’s Absolute Barbecues</a:t>
            </a:r>
            <a:r>
              <a:rPr lang="en-US" dirty="0"/>
              <a:t>, </a:t>
            </a:r>
            <a:r>
              <a:rPr lang="en-US" i="1" dirty="0"/>
              <a:t>Paradise</a:t>
            </a:r>
            <a:r>
              <a:rPr lang="en-US" dirty="0"/>
              <a:t>, </a:t>
            </a:r>
            <a:r>
              <a:rPr lang="en-US" i="1" dirty="0" err="1"/>
              <a:t>Flechazo</a:t>
            </a:r>
            <a:r>
              <a:rPr lang="en-US" dirty="0"/>
              <a:t> show consistent excellence</a:t>
            </a:r>
          </a:p>
          <a:p>
            <a:pPr lvl="2"/>
            <a:r>
              <a:rPr lang="en-US" dirty="0"/>
              <a:t>Feature these as trusted choices on Zomato</a:t>
            </a:r>
          </a:p>
          <a:p>
            <a:pPr lvl="1"/>
            <a:r>
              <a:rPr lang="en-US" b="1" dirty="0"/>
              <a:t>Monitor Seasonal Trends:</a:t>
            </a:r>
            <a:endParaRPr lang="en-US" dirty="0"/>
          </a:p>
          <a:p>
            <a:pPr lvl="2"/>
            <a:r>
              <a:rPr lang="en-US" dirty="0"/>
              <a:t>Rating patterns change month-to-month</a:t>
            </a:r>
          </a:p>
          <a:p>
            <a:pPr lvl="2"/>
            <a:r>
              <a:rPr lang="en-US" dirty="0"/>
              <a:t>Use this data to plan campaigns and offers</a:t>
            </a:r>
          </a:p>
          <a:p>
            <a:pPr lvl="1"/>
            <a:r>
              <a:rPr lang="en-US" b="1" dirty="0"/>
              <a:t>Automate Sentiment Tracking:</a:t>
            </a:r>
            <a:endParaRPr lang="en-US" dirty="0"/>
          </a:p>
          <a:p>
            <a:pPr lvl="2"/>
            <a:r>
              <a:rPr lang="en-US" dirty="0"/>
              <a:t>Implement AI tools to monitor customer emotions in real-time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99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15E1-6157-20D6-89BF-820B8FC5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 from Visualizations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B1B-BFC3-122A-1806-5E96E1D3D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Rating Distribution:</a:t>
            </a:r>
            <a:endParaRPr lang="en-US" dirty="0"/>
          </a:p>
          <a:p>
            <a:pPr lvl="1"/>
            <a:r>
              <a:rPr lang="en-US" dirty="0"/>
              <a:t>Majority of ratings between </a:t>
            </a:r>
            <a:r>
              <a:rPr lang="en-US" b="1" dirty="0"/>
              <a:t>4.0–5.0</a:t>
            </a:r>
            <a:r>
              <a:rPr lang="en-US" dirty="0"/>
              <a:t> → strong satisfaction</a:t>
            </a:r>
          </a:p>
          <a:p>
            <a:pPr lvl="1"/>
            <a:r>
              <a:rPr lang="en-US" dirty="0"/>
              <a:t>Few below 3.0 → high-quality listings overall</a:t>
            </a:r>
          </a:p>
          <a:p>
            <a:r>
              <a:rPr lang="en-US" b="1" dirty="0"/>
              <a:t>Top-Rated Restaurants:</a:t>
            </a:r>
            <a:endParaRPr lang="en-US" dirty="0"/>
          </a:p>
          <a:p>
            <a:pPr lvl="1"/>
            <a:r>
              <a:rPr lang="en-US" i="1" dirty="0"/>
              <a:t>Beyond </a:t>
            </a:r>
            <a:r>
              <a:rPr lang="en-US" i="1" dirty="0" err="1"/>
              <a:t>Flavours</a:t>
            </a:r>
            <a:r>
              <a:rPr lang="en-US" dirty="0"/>
              <a:t>, </a:t>
            </a:r>
            <a:r>
              <a:rPr lang="en-US" i="1" dirty="0" err="1"/>
              <a:t>Flechazo</a:t>
            </a:r>
            <a:r>
              <a:rPr lang="en-US" dirty="0"/>
              <a:t> among best performers</a:t>
            </a:r>
          </a:p>
          <a:p>
            <a:pPr lvl="1"/>
            <a:r>
              <a:rPr lang="en-US" dirty="0"/>
              <a:t>Common factors: ambiance, service, and value</a:t>
            </a:r>
          </a:p>
          <a:p>
            <a:r>
              <a:rPr lang="en-US" b="1" dirty="0"/>
              <a:t>Cuisine Distribution:</a:t>
            </a:r>
            <a:endParaRPr lang="en-US" dirty="0"/>
          </a:p>
          <a:p>
            <a:pPr lvl="1"/>
            <a:r>
              <a:rPr lang="en-US" dirty="0"/>
              <a:t>Top cuisines: </a:t>
            </a:r>
            <a:r>
              <a:rPr lang="en-US" b="1" dirty="0"/>
              <a:t>North Indian, Chinese, Continental</a:t>
            </a:r>
            <a:endParaRPr lang="en-US" dirty="0"/>
          </a:p>
          <a:p>
            <a:pPr lvl="1"/>
            <a:r>
              <a:rPr lang="en-US" dirty="0"/>
              <a:t>Multi-cuisine demand indicates preference for variety</a:t>
            </a:r>
          </a:p>
          <a:p>
            <a:pPr lvl="1"/>
            <a:r>
              <a:rPr lang="en-US" b="1" dirty="0"/>
              <a:t>Location Distribution:</a:t>
            </a:r>
            <a:endParaRPr lang="en-US" dirty="0"/>
          </a:p>
          <a:p>
            <a:pPr lvl="1"/>
            <a:r>
              <a:rPr lang="en-US" b="1" dirty="0"/>
              <a:t>Gachibowli, Hitech City</a:t>
            </a:r>
            <a:r>
              <a:rPr lang="en-US" dirty="0"/>
              <a:t> = major food hubs</a:t>
            </a:r>
          </a:p>
          <a:p>
            <a:pPr lvl="1"/>
            <a:r>
              <a:rPr lang="en-US" dirty="0"/>
              <a:t>Aligns with IT population and high food demand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15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C8BB-A980-41F3-8D63-B244290A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Insights from Visualizations (continued)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80324-82B5-0000-0268-B7F8EEAA3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Price vs Rating:</a:t>
            </a:r>
            <a:endParaRPr lang="en-US" dirty="0"/>
          </a:p>
          <a:p>
            <a:pPr lvl="1"/>
            <a:r>
              <a:rPr lang="en-US" dirty="0"/>
              <a:t>Moderate-cost restaurants earn higher ratings</a:t>
            </a:r>
          </a:p>
          <a:p>
            <a:pPr lvl="1"/>
            <a:r>
              <a:rPr lang="en-US" dirty="0"/>
              <a:t>Quality + affordability = stronger customer appeal</a:t>
            </a:r>
          </a:p>
          <a:p>
            <a:r>
              <a:rPr lang="en-US" b="1" dirty="0"/>
              <a:t>Correlation Matrix:</a:t>
            </a:r>
            <a:endParaRPr lang="en-US" dirty="0"/>
          </a:p>
          <a:p>
            <a:pPr lvl="1"/>
            <a:r>
              <a:rPr lang="en-US" dirty="0"/>
              <a:t>Weak link between cost &amp; rating → satisfaction not price-driven</a:t>
            </a:r>
          </a:p>
          <a:p>
            <a:r>
              <a:rPr lang="en-US" b="1" dirty="0"/>
              <a:t>Pair Plot:</a:t>
            </a:r>
            <a:endParaRPr lang="en-US" dirty="0"/>
          </a:p>
          <a:p>
            <a:pPr lvl="1"/>
            <a:r>
              <a:rPr lang="en-US" dirty="0"/>
              <a:t>High ratings cluster around moderate costs</a:t>
            </a:r>
          </a:p>
          <a:p>
            <a:pPr lvl="1"/>
            <a:r>
              <a:rPr lang="en-US" dirty="0"/>
              <a:t>Supports “value-for-money” behavior</a:t>
            </a:r>
          </a:p>
          <a:p>
            <a:r>
              <a:rPr lang="en-US" b="1" dirty="0"/>
              <a:t>Sentiment Analysis:</a:t>
            </a:r>
            <a:endParaRPr lang="en-US" dirty="0"/>
          </a:p>
          <a:p>
            <a:pPr lvl="1"/>
            <a:r>
              <a:rPr lang="en-US" dirty="0"/>
              <a:t>Positive ≈ 80%, Negative ≈ 10–15%</a:t>
            </a:r>
          </a:p>
          <a:p>
            <a:pPr lvl="1"/>
            <a:r>
              <a:rPr lang="en-US" dirty="0"/>
              <a:t>Negative feedback focuses on delivery &amp; consistency</a:t>
            </a:r>
          </a:p>
          <a:p>
            <a:r>
              <a:rPr lang="en-US" b="1" dirty="0"/>
              <a:t>Time Trend:</a:t>
            </a:r>
            <a:endParaRPr lang="en-US" dirty="0"/>
          </a:p>
          <a:p>
            <a:pPr lvl="1"/>
            <a:r>
              <a:rPr lang="en-US" dirty="0"/>
              <a:t>Ratings stable with festive peaks</a:t>
            </a:r>
          </a:p>
          <a:p>
            <a:pPr lvl="1"/>
            <a:r>
              <a:rPr lang="en-US" dirty="0"/>
              <a:t>Opportunity for </a:t>
            </a:r>
            <a:r>
              <a:rPr lang="en-US" b="1" dirty="0"/>
              <a:t>targeted promotions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40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DC73-F3D4-AFC8-B00B-81F6F705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B691-E9D7-ECB5-15BF-27C54FA3C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&amp; Sentiment Analysis revealed that:</a:t>
            </a:r>
          </a:p>
          <a:p>
            <a:pPr lvl="1"/>
            <a:r>
              <a:rPr lang="en-US" dirty="0"/>
              <a:t>Ratings are influenced by </a:t>
            </a:r>
            <a:r>
              <a:rPr lang="en-US" b="1" dirty="0"/>
              <a:t>cuisine type, price, and sentiment</a:t>
            </a:r>
            <a:endParaRPr lang="en-US" dirty="0"/>
          </a:p>
          <a:p>
            <a:pPr lvl="1"/>
            <a:r>
              <a:rPr lang="en-US" b="1" dirty="0"/>
              <a:t>Moderately priced restaurants</a:t>
            </a:r>
            <a:r>
              <a:rPr lang="en-US" dirty="0"/>
              <a:t> earn higher ratings</a:t>
            </a:r>
          </a:p>
          <a:p>
            <a:pPr lvl="1"/>
            <a:r>
              <a:rPr lang="en-US" b="1" dirty="0"/>
              <a:t>North Indian</a:t>
            </a:r>
            <a:r>
              <a:rPr lang="en-US" dirty="0"/>
              <a:t> and </a:t>
            </a:r>
            <a:r>
              <a:rPr lang="en-US" b="1" dirty="0"/>
              <a:t>Chinese</a:t>
            </a:r>
            <a:r>
              <a:rPr lang="en-US" dirty="0"/>
              <a:t> cuisines dominate demand</a:t>
            </a:r>
          </a:p>
          <a:p>
            <a:pPr lvl="1"/>
            <a:r>
              <a:rPr lang="en-US" dirty="0"/>
              <a:t>Majority of reviews show </a:t>
            </a:r>
            <a:r>
              <a:rPr lang="en-US" b="1" dirty="0"/>
              <a:t>positive satisfaction (≈80%)</a:t>
            </a:r>
            <a:endParaRPr lang="en-US" dirty="0"/>
          </a:p>
          <a:p>
            <a:r>
              <a:rPr lang="en-US" b="1" dirty="0"/>
              <a:t>Time-based analysis:</a:t>
            </a:r>
            <a:r>
              <a:rPr lang="en-US" dirty="0"/>
              <a:t> Seasonal and festive spikes in ratings</a:t>
            </a:r>
          </a:p>
          <a:p>
            <a:r>
              <a:rPr lang="en-US" b="1" dirty="0"/>
              <a:t>Final Outcome:</a:t>
            </a:r>
            <a:br>
              <a:rPr lang="en-US" dirty="0"/>
            </a:br>
            <a:r>
              <a:rPr lang="en-US" dirty="0"/>
              <a:t>Enables Zomato to:</a:t>
            </a:r>
          </a:p>
          <a:p>
            <a:pPr lvl="1"/>
            <a:r>
              <a:rPr lang="en-US" dirty="0"/>
              <a:t>Improve customer satisfaction</a:t>
            </a:r>
          </a:p>
          <a:p>
            <a:pPr lvl="1"/>
            <a:r>
              <a:rPr lang="en-US" dirty="0"/>
              <a:t>Optimize restaurant pricing &amp; promotions</a:t>
            </a:r>
          </a:p>
          <a:p>
            <a:pPr lvl="1"/>
            <a:r>
              <a:rPr lang="en-US" dirty="0"/>
              <a:t>Enhance data-driven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560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D719-1191-6231-4118-B77F2766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0E13-42DC-0A82-DE67-CE5AD7F8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Customer sentiment</a:t>
            </a:r>
            <a:r>
              <a:rPr lang="en-US" dirty="0"/>
              <a:t> strongly aligns with overall rating trends</a:t>
            </a:r>
          </a:p>
          <a:p>
            <a:r>
              <a:rPr lang="en-US" b="1" dirty="0"/>
              <a:t>Value-for-money</a:t>
            </a:r>
            <a:r>
              <a:rPr lang="en-US" dirty="0"/>
              <a:t> pricing drives higher satisfaction</a:t>
            </a:r>
          </a:p>
          <a:p>
            <a:r>
              <a:rPr lang="en-US" b="1" dirty="0"/>
              <a:t>Popular cuisines &amp; locations</a:t>
            </a:r>
            <a:r>
              <a:rPr lang="en-US" dirty="0"/>
              <a:t> offer clear expansion opportunities</a:t>
            </a:r>
          </a:p>
          <a:p>
            <a:r>
              <a:rPr lang="en-US" b="1" dirty="0"/>
              <a:t>Real-time feedback monitoring</a:t>
            </a:r>
            <a:r>
              <a:rPr lang="en-US" dirty="0"/>
              <a:t> improves brand reputation</a:t>
            </a:r>
          </a:p>
          <a:p>
            <a:r>
              <a:rPr lang="en-US" b="1" dirty="0"/>
              <a:t>Data-driven insights</a:t>
            </a:r>
            <a:r>
              <a:rPr lang="en-US" dirty="0"/>
              <a:t> help Zomato strengthen its competitive edge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28210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619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 Light</vt:lpstr>
      <vt:lpstr>Rockwell</vt:lpstr>
      <vt:lpstr>Wingdings</vt:lpstr>
      <vt:lpstr>Atlas</vt:lpstr>
      <vt:lpstr> Zomato Restaurant Reviews </vt:lpstr>
      <vt:lpstr>Project Summary</vt:lpstr>
      <vt:lpstr>Business Objective</vt:lpstr>
      <vt:lpstr>Problem Statement</vt:lpstr>
      <vt:lpstr>Solution to Business Objective</vt:lpstr>
      <vt:lpstr>Solution to Business Objective</vt:lpstr>
      <vt:lpstr>Insights from Visualizations</vt:lpstr>
      <vt:lpstr> Insights from Visualizations (continued)</vt:lpstr>
      <vt:lpstr>Conclusion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Jadhav</dc:creator>
  <cp:lastModifiedBy>Omkar Jadhav</cp:lastModifiedBy>
  <cp:revision>2</cp:revision>
  <dcterms:created xsi:type="dcterms:W3CDTF">2025-11-04T16:53:00Z</dcterms:created>
  <dcterms:modified xsi:type="dcterms:W3CDTF">2025-11-04T17:01:16Z</dcterms:modified>
</cp:coreProperties>
</file>