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24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78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49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78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923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8986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99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41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441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895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42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634BEC3-FEC2-443A-9A0A-488A85FEAFA4}" type="datetimeFigureOut">
              <a:rPr lang="en-IN" smtClean="0"/>
              <a:t>2025-11-07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2757C31-F9E6-4970-A55E-6967F14FA4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8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ABEF-4F9F-DE37-81C2-F5FE932B2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Airbnb Listings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4F4E2-BBBD-7FFC-2950-66E84D2D1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 understand pricing dynamics, location influence, and host performance patterns.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322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6F5F3-41F0-DC27-71C8-53E40696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Overview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C640D-1CCD-B680-8955-9A7CAC03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Dataset Summary:</a:t>
            </a:r>
          </a:p>
          <a:p>
            <a:pPr lvl="1"/>
            <a:r>
              <a:rPr lang="en-IN" b="1" dirty="0"/>
              <a:t>Source:</a:t>
            </a:r>
            <a:r>
              <a:rPr lang="en-IN" dirty="0"/>
              <a:t> Airbnb listings dataset (sample of 15 records, Chicago region)</a:t>
            </a:r>
          </a:p>
          <a:p>
            <a:pPr lvl="1"/>
            <a:r>
              <a:rPr lang="en-IN" b="1" dirty="0"/>
              <a:t>Total Columns:</a:t>
            </a:r>
            <a:r>
              <a:rPr lang="en-IN" dirty="0"/>
              <a:t> 18</a:t>
            </a:r>
          </a:p>
          <a:p>
            <a:pPr lvl="1"/>
            <a:r>
              <a:rPr lang="en-IN" b="1" dirty="0"/>
              <a:t>Key Fields:</a:t>
            </a:r>
            <a:br>
              <a:rPr lang="en-IN" dirty="0"/>
            </a:br>
            <a:r>
              <a:rPr lang="en-IN" dirty="0"/>
              <a:t>id, name, </a:t>
            </a:r>
            <a:r>
              <a:rPr lang="en-IN" dirty="0" err="1"/>
              <a:t>neighbourhood_group</a:t>
            </a:r>
            <a:r>
              <a:rPr lang="en-IN" dirty="0"/>
              <a:t>, neighbourhood, </a:t>
            </a:r>
            <a:r>
              <a:rPr lang="en-IN" dirty="0" err="1"/>
              <a:t>room_type</a:t>
            </a:r>
            <a:r>
              <a:rPr lang="en-IN" dirty="0"/>
              <a:t>, price, reviews, availability_365, etc.</a:t>
            </a:r>
          </a:p>
          <a:p>
            <a:r>
              <a:rPr lang="en-IN" b="1" dirty="0"/>
              <a:t>Data Preparation Steps:</a:t>
            </a:r>
          </a:p>
          <a:p>
            <a:pPr lvl="1"/>
            <a:r>
              <a:rPr lang="en-IN" dirty="0"/>
              <a:t>Removed duplicate and null values</a:t>
            </a:r>
          </a:p>
          <a:p>
            <a:pPr lvl="1"/>
            <a:r>
              <a:rPr lang="en-IN" dirty="0"/>
              <a:t>Standardized missing </a:t>
            </a:r>
            <a:r>
              <a:rPr lang="en-IN" dirty="0" err="1"/>
              <a:t>neighborhood</a:t>
            </a:r>
            <a:r>
              <a:rPr lang="en-IN" dirty="0"/>
              <a:t> data as “Unknown”</a:t>
            </a:r>
          </a:p>
          <a:p>
            <a:pPr lvl="1"/>
            <a:r>
              <a:rPr lang="en-IN" dirty="0"/>
              <a:t>Converted date fields to datetime format</a:t>
            </a:r>
          </a:p>
          <a:p>
            <a:pPr lvl="1"/>
            <a:r>
              <a:rPr lang="en-IN" dirty="0"/>
              <a:t>Filled missing numeric fields using median values</a:t>
            </a:r>
          </a:p>
          <a:p>
            <a:pPr lvl="1"/>
            <a:r>
              <a:rPr lang="en-IN" dirty="0"/>
              <a:t>Removed extreme price outliers for realistic visualizations</a:t>
            </a:r>
          </a:p>
          <a:p>
            <a:r>
              <a:rPr lang="en-IN" b="1" dirty="0"/>
              <a:t>Tools Used:</a:t>
            </a:r>
          </a:p>
          <a:p>
            <a:pPr lvl="1"/>
            <a:r>
              <a:rPr lang="en-IN" b="1" dirty="0"/>
              <a:t>Python (Pandas, Matplotlib, Seaborn, </a:t>
            </a:r>
            <a:r>
              <a:rPr lang="en-IN" b="1" dirty="0" err="1"/>
              <a:t>Plotly</a:t>
            </a:r>
            <a:r>
              <a:rPr lang="en-IN" b="1" dirty="0"/>
              <a:t>)</a:t>
            </a:r>
            <a:r>
              <a:rPr lang="en-IN" dirty="0"/>
              <a:t> for EDA</a:t>
            </a:r>
          </a:p>
          <a:p>
            <a:pPr lvl="1"/>
            <a:r>
              <a:rPr lang="en-IN" b="1" dirty="0"/>
              <a:t>Power BI</a:t>
            </a:r>
            <a:r>
              <a:rPr lang="en-IN" dirty="0"/>
              <a:t> for dashboard design and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925990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3345-517C-64CE-4468-0FBCD85D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Findings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CD19F-B0C5-A071-1F6A-2CB4CBD81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Price Distribution</a:t>
            </a:r>
          </a:p>
          <a:p>
            <a:pPr lvl="1"/>
            <a:r>
              <a:rPr lang="en-US" dirty="0"/>
              <a:t>Majority of listings priced below </a:t>
            </a:r>
            <a:r>
              <a:rPr lang="en-US" b="1" dirty="0"/>
              <a:t>$300</a:t>
            </a:r>
            <a:endParaRPr lang="en-US" dirty="0"/>
          </a:p>
          <a:p>
            <a:pPr lvl="1"/>
            <a:r>
              <a:rPr lang="en-US" dirty="0"/>
              <a:t>Mean price: </a:t>
            </a:r>
            <a:r>
              <a:rPr lang="en-US" b="1" dirty="0"/>
              <a:t>$577.88</a:t>
            </a:r>
            <a:r>
              <a:rPr lang="en-US" dirty="0"/>
              <a:t>, Median price: </a:t>
            </a:r>
            <a:r>
              <a:rPr lang="en-US" b="1" dirty="0"/>
              <a:t>$169</a:t>
            </a:r>
            <a:endParaRPr lang="en-US" dirty="0"/>
          </a:p>
          <a:p>
            <a:pPr lvl="1"/>
            <a:r>
              <a:rPr lang="en-US" dirty="0"/>
              <a:t>Few luxury listings inflate the average significantly</a:t>
            </a:r>
          </a:p>
          <a:p>
            <a:pPr marL="0" indent="0">
              <a:buNone/>
            </a:pPr>
            <a:r>
              <a:rPr lang="en-US" b="1" dirty="0"/>
              <a:t>2. Dominant Neighborhoods</a:t>
            </a:r>
          </a:p>
          <a:p>
            <a:pPr lvl="1"/>
            <a:r>
              <a:rPr lang="en-US" dirty="0"/>
              <a:t>Most active areas: </a:t>
            </a:r>
            <a:r>
              <a:rPr lang="en-US" b="1" dirty="0"/>
              <a:t>West Town</a:t>
            </a:r>
            <a:r>
              <a:rPr lang="en-US" dirty="0"/>
              <a:t>, </a:t>
            </a:r>
            <a:r>
              <a:rPr lang="en-US" b="1" dirty="0"/>
              <a:t>Lincoln Park</a:t>
            </a:r>
            <a:r>
              <a:rPr lang="en-US" dirty="0"/>
              <a:t>, and </a:t>
            </a:r>
            <a:r>
              <a:rPr lang="en-US" b="1" dirty="0"/>
              <a:t>Logan Square</a:t>
            </a:r>
            <a:endParaRPr lang="en-US" dirty="0"/>
          </a:p>
          <a:p>
            <a:pPr lvl="1"/>
            <a:r>
              <a:rPr lang="en-US" dirty="0"/>
              <a:t>Urban regions dominate the market with higher listing density</a:t>
            </a:r>
          </a:p>
          <a:p>
            <a:pPr marL="0" indent="0">
              <a:buNone/>
            </a:pPr>
            <a:r>
              <a:rPr lang="en-US" b="1" dirty="0"/>
              <a:t>3. Room Type Distribution</a:t>
            </a:r>
          </a:p>
          <a:p>
            <a:pPr lvl="1"/>
            <a:r>
              <a:rPr lang="en-US" b="1" dirty="0"/>
              <a:t>Entire home/apartment:</a:t>
            </a:r>
            <a:r>
              <a:rPr lang="en-US" dirty="0"/>
              <a:t> 76% of listings</a:t>
            </a:r>
          </a:p>
          <a:p>
            <a:pPr lvl="1"/>
            <a:r>
              <a:rPr lang="en-US" b="1" dirty="0"/>
              <a:t>Private rooms:</a:t>
            </a:r>
            <a:r>
              <a:rPr lang="en-US" dirty="0"/>
              <a:t> 22%</a:t>
            </a:r>
          </a:p>
          <a:p>
            <a:pPr lvl="1"/>
            <a:r>
              <a:rPr lang="en-US" dirty="0"/>
              <a:t>Indicates high participation of professional hosts</a:t>
            </a:r>
          </a:p>
        </p:txBody>
      </p:sp>
    </p:spTree>
    <p:extLst>
      <p:ext uri="{BB962C8B-B14F-4D97-AF65-F5344CB8AC3E}">
        <p14:creationId xmlns:p14="http://schemas.microsoft.com/office/powerpoint/2010/main" val="2517800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8E01-4BCD-F551-0E5B-F8D4BBB6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9A680-48E2-45FE-6B3A-EC3F81B73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Visualizations Displayed:</a:t>
            </a:r>
          </a:p>
          <a:p>
            <a:pPr lvl="1"/>
            <a:r>
              <a:rPr lang="en-US" b="1" dirty="0"/>
              <a:t>Price Distribution Chart</a:t>
            </a:r>
            <a:r>
              <a:rPr lang="en-US" dirty="0"/>
              <a:t> – Histogram showing right-skewed distribution</a:t>
            </a:r>
          </a:p>
          <a:p>
            <a:pPr lvl="1"/>
            <a:r>
              <a:rPr lang="en-US" b="1" dirty="0"/>
              <a:t>Top 10 Neighborhoods Bar Chart</a:t>
            </a:r>
            <a:r>
              <a:rPr lang="en-US" dirty="0"/>
              <a:t> – Count of listings per area</a:t>
            </a:r>
          </a:p>
          <a:p>
            <a:pPr lvl="1"/>
            <a:r>
              <a:rPr lang="en-US" b="1" dirty="0"/>
              <a:t>Room Type Pie Chart</a:t>
            </a:r>
            <a:r>
              <a:rPr lang="en-US" dirty="0"/>
              <a:t> – Share of each room category</a:t>
            </a:r>
          </a:p>
          <a:p>
            <a:pPr lvl="1"/>
            <a:r>
              <a:rPr lang="en-US" b="1" dirty="0"/>
              <a:t>Map Visualization</a:t>
            </a:r>
            <a:r>
              <a:rPr lang="en-US" dirty="0"/>
              <a:t> – Geographical spread of listings (latitude/longitude)</a:t>
            </a:r>
          </a:p>
          <a:p>
            <a:pPr lvl="1"/>
            <a:r>
              <a:rPr lang="en-US" b="1" dirty="0"/>
              <a:t>Review Trend Chart</a:t>
            </a:r>
            <a:r>
              <a:rPr lang="en-US" dirty="0"/>
              <a:t> – Review activity over time (seasonality)</a:t>
            </a:r>
          </a:p>
          <a:p>
            <a:r>
              <a:rPr lang="en-US" b="1" dirty="0"/>
              <a:t>Insights:</a:t>
            </a:r>
          </a:p>
          <a:p>
            <a:pPr lvl="1"/>
            <a:r>
              <a:rPr lang="en-US" dirty="0"/>
              <a:t>Central neighborhoods show high listing density and price</a:t>
            </a:r>
          </a:p>
          <a:p>
            <a:pPr lvl="1"/>
            <a:r>
              <a:rPr lang="en-US" dirty="0"/>
              <a:t>Suburban listings are fewer but have longer availability</a:t>
            </a:r>
          </a:p>
          <a:p>
            <a:pPr lvl="1"/>
            <a:r>
              <a:rPr lang="en-US" dirty="0"/>
              <a:t>Review spikes around </a:t>
            </a:r>
            <a:r>
              <a:rPr lang="en-US" b="1" dirty="0"/>
              <a:t>May–June</a:t>
            </a:r>
            <a:r>
              <a:rPr lang="en-US" dirty="0"/>
              <a:t>, indicating seasonal demand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890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3303-47FC-08CC-52EE-75549CADE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and Trend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89EAE-E69E-75DF-E69C-84426ABD5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Relationships:</a:t>
            </a:r>
          </a:p>
          <a:p>
            <a:pPr lvl="1"/>
            <a:r>
              <a:rPr lang="en-US" b="1" dirty="0"/>
              <a:t>Price vs. Reviews:</a:t>
            </a:r>
            <a:r>
              <a:rPr lang="en-US" dirty="0"/>
              <a:t> Weak negative correlation (-0.05) — higher-priced listings have fewer reviews</a:t>
            </a:r>
          </a:p>
          <a:p>
            <a:pPr lvl="1"/>
            <a:r>
              <a:rPr lang="en-US" b="1" dirty="0"/>
              <a:t>Availability vs. Reviews:</a:t>
            </a:r>
            <a:r>
              <a:rPr lang="en-US" dirty="0"/>
              <a:t> Negative relationship — more booked listings show lower availability</a:t>
            </a:r>
          </a:p>
          <a:p>
            <a:pPr lvl="1"/>
            <a:r>
              <a:rPr lang="en-US" b="1" dirty="0"/>
              <a:t>Room Type vs. Price:</a:t>
            </a:r>
            <a:r>
              <a:rPr lang="en-US" dirty="0"/>
              <a:t> Entire homes generally priced higher than private/shared rooms</a:t>
            </a:r>
          </a:p>
          <a:p>
            <a:r>
              <a:rPr lang="en-US" b="1" dirty="0"/>
              <a:t>Seasonal Trends:</a:t>
            </a:r>
          </a:p>
          <a:p>
            <a:pPr lvl="1"/>
            <a:r>
              <a:rPr lang="en-US" dirty="0"/>
              <a:t>Review frequency peaks mid-year (May–June)</a:t>
            </a:r>
          </a:p>
          <a:p>
            <a:pPr lvl="1"/>
            <a:r>
              <a:rPr lang="en-US" dirty="0"/>
              <a:t>Decline observed in late winter months</a:t>
            </a:r>
          </a:p>
          <a:p>
            <a:r>
              <a:rPr lang="en-US" b="1" dirty="0"/>
              <a:t>Visuals:</a:t>
            </a:r>
          </a:p>
          <a:p>
            <a:pPr lvl="1"/>
            <a:r>
              <a:rPr lang="en-US" dirty="0"/>
              <a:t>Correlation Heatmap</a:t>
            </a:r>
          </a:p>
          <a:p>
            <a:pPr lvl="1"/>
            <a:r>
              <a:rPr lang="en-US" dirty="0"/>
              <a:t>Review Count Line Chart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31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B8A1-EC8F-CA0D-3EC1-4B534CF5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723C2-EC6C-E40E-6CA0-3B605DD13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78304"/>
            <a:ext cx="7315200" cy="5606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Dynamic Pricing Optimization</a:t>
            </a:r>
          </a:p>
          <a:p>
            <a:pPr lvl="1"/>
            <a:r>
              <a:rPr lang="en-US" dirty="0"/>
              <a:t>Use predictive pricing models based on neighborhood, season, and room type</a:t>
            </a:r>
          </a:p>
          <a:p>
            <a:pPr lvl="1"/>
            <a:r>
              <a:rPr lang="en-US" dirty="0"/>
              <a:t>Filter extreme outliers to improve price accuracy</a:t>
            </a:r>
          </a:p>
          <a:p>
            <a:pPr marL="0" indent="0">
              <a:buNone/>
            </a:pPr>
            <a:r>
              <a:rPr lang="en-US" b="1" dirty="0"/>
              <a:t>2. Market Expansion</a:t>
            </a:r>
          </a:p>
          <a:p>
            <a:pPr lvl="1"/>
            <a:r>
              <a:rPr lang="en-US" dirty="0"/>
              <a:t>Encourage listings in low-density neighborhoods for better coverage</a:t>
            </a:r>
          </a:p>
          <a:p>
            <a:pPr lvl="1"/>
            <a:r>
              <a:rPr lang="en-US" dirty="0"/>
              <a:t>Promote affordable suburban stays for family or long-term guests</a:t>
            </a:r>
          </a:p>
          <a:p>
            <a:pPr marL="0" indent="0">
              <a:buNone/>
            </a:pPr>
            <a:r>
              <a:rPr lang="en-US" b="1" dirty="0"/>
              <a:t>3. Host Engagement and Quality</a:t>
            </a:r>
          </a:p>
          <a:p>
            <a:pPr lvl="1"/>
            <a:r>
              <a:rPr lang="en-US" dirty="0"/>
              <a:t>Incentivize hosts to maintain competitive pricing</a:t>
            </a:r>
          </a:p>
          <a:p>
            <a:pPr lvl="1"/>
            <a:r>
              <a:rPr lang="en-US" dirty="0"/>
              <a:t>Offer “</a:t>
            </a:r>
            <a:r>
              <a:rPr lang="en-US" dirty="0" err="1"/>
              <a:t>Superhost</a:t>
            </a:r>
            <a:r>
              <a:rPr lang="en-US" dirty="0"/>
              <a:t>” rewards for consistent high ratings and fast responses</a:t>
            </a:r>
          </a:p>
          <a:p>
            <a:pPr lvl="1"/>
            <a:r>
              <a:rPr lang="en-US" dirty="0"/>
              <a:t>Provide workshops or AI insights for listing optimization</a:t>
            </a:r>
          </a:p>
          <a:p>
            <a:pPr marL="0" indent="0">
              <a:buNone/>
            </a:pPr>
            <a:r>
              <a:rPr lang="en-US" b="1" dirty="0"/>
              <a:t>4. Platform Improvements</a:t>
            </a:r>
          </a:p>
          <a:p>
            <a:pPr lvl="1"/>
            <a:r>
              <a:rPr lang="en-US" dirty="0"/>
              <a:t>Introduce tools for hosts to track performance metrics</a:t>
            </a:r>
          </a:p>
          <a:p>
            <a:pPr lvl="1"/>
            <a:r>
              <a:rPr lang="en-US" dirty="0"/>
              <a:t>Improve data validation to reduce misclassified room types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755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05AF-F0D9-6402-94E1-43DF5544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05C83-0E8B-9F66-A668-41D594AD9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Summary:</a:t>
            </a:r>
          </a:p>
          <a:p>
            <a:pPr lvl="1"/>
            <a:r>
              <a:rPr lang="en-US" dirty="0"/>
              <a:t>Airbnb listings are concentrated in central, urban neighborhoods</a:t>
            </a:r>
          </a:p>
          <a:p>
            <a:pPr lvl="1"/>
            <a:r>
              <a:rPr lang="en-US" dirty="0"/>
              <a:t>Entire homes dominate the platform’s offerings</a:t>
            </a:r>
          </a:p>
          <a:p>
            <a:pPr lvl="1"/>
            <a:r>
              <a:rPr lang="en-US" dirty="0"/>
              <a:t>Seasonal and pricing trends indicate opportunities for optimization</a:t>
            </a:r>
          </a:p>
          <a:p>
            <a:r>
              <a:rPr lang="en-US" b="1" dirty="0"/>
              <a:t>Key Takeaways:</a:t>
            </a:r>
          </a:p>
          <a:p>
            <a:pPr lvl="1"/>
            <a:r>
              <a:rPr lang="en-US" dirty="0"/>
              <a:t>Focus on dynamic, data-driven pricing strategies</a:t>
            </a:r>
          </a:p>
          <a:p>
            <a:pPr lvl="1"/>
            <a:r>
              <a:rPr lang="en-US" dirty="0"/>
              <a:t>Expand marketing to underrepresented neighborhoods</a:t>
            </a:r>
          </a:p>
          <a:p>
            <a:pPr lvl="1"/>
            <a:r>
              <a:rPr lang="en-US" dirty="0"/>
              <a:t>Support hosts through insights and better data visibility</a:t>
            </a:r>
          </a:p>
          <a:p>
            <a:r>
              <a:rPr lang="en-US" b="1" dirty="0"/>
              <a:t>Next Steps:</a:t>
            </a:r>
          </a:p>
          <a:p>
            <a:pPr lvl="1"/>
            <a:r>
              <a:rPr lang="en-US" dirty="0"/>
              <a:t>Automate monthly data refresh and reporting in Power BI</a:t>
            </a:r>
          </a:p>
          <a:p>
            <a:pPr lvl="1"/>
            <a:r>
              <a:rPr lang="en-US" dirty="0"/>
              <a:t>Integrate predictive analytics for pricing and demand forecasting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94827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6</TotalTime>
  <Words>544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Wingdings 2</vt:lpstr>
      <vt:lpstr>Frame</vt:lpstr>
      <vt:lpstr>Airbnb Listings Analysis</vt:lpstr>
      <vt:lpstr>Data Overview </vt:lpstr>
      <vt:lpstr>Key Findings </vt:lpstr>
      <vt:lpstr>Visual Insights</vt:lpstr>
      <vt:lpstr>Correlation and Trend Analysis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Jadhav</dc:creator>
  <cp:lastModifiedBy>Omkar Jadhav</cp:lastModifiedBy>
  <cp:revision>1</cp:revision>
  <dcterms:created xsi:type="dcterms:W3CDTF">2025-11-07T07:50:03Z</dcterms:created>
  <dcterms:modified xsi:type="dcterms:W3CDTF">2025-11-07T07:56:35Z</dcterms:modified>
</cp:coreProperties>
</file>